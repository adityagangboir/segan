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SEGAN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F4F8"/>
                </a:solidFill>
              </a:rPr>
              <a:t>Speech Enhancement Generative Adversarial Network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F4F8"/>
                </a:solidFill>
              </a:rPr>
              <a:t>Deep Learning for Audio Noise Reduction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Complete Technical Documentation &amp; Implementation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Project Overview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</a:rPr>
              <a:t>Problem Statement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9659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Background noise in audio recordings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💡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37160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</a:rPr>
              <a:t>Proposed Solution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69748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GAN-based deep learning approach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🏗️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371600" y="3108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</a:rPr>
              <a:t>System Architecture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4290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Generator + Discriminator design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⚙️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37160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</a:rPr>
              <a:t>Implementation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41605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Training workflow and deployment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37160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</a:rPr>
              <a:t>Results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892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Performance metrics and evaluation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🚀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371600" y="5303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</a:rPr>
              <a:t>Deployment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56235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Web application and real-world usage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The Problem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C3E50"/>
                </a:solidFill>
              </a:rPr>
              <a:t>Background Noise in Audio Recordings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• Degrades speech quality and intelligibility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• Affects telecommunications, podcasting, video conferencing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• Traditional methods produce artifacts and distortion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• Need for intelligent, adaptive noise reduction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4114800"/>
            <a:ext cx="7315200" cy="10972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429768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Noisy Signal = Clean Speech + Background Noise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Our Solution: SEGAN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C3E50"/>
                </a:solidFill>
              </a:rPr>
              <a:t>Generative Adversarial Network for Audio Enhancement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Why Deep Learning?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✓ Learns from data, not rules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✓ Adapts to various noise types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✓ No hand-crafted features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✓ State-of-the-art quality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Why GAN?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0" y="2651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✓ Perceptually optimal quality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3063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✓ Sharp, realistic output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3474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✓ No blurry/smooth artifacts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3886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✓ Multi-scale evaluation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4709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+7.5 dB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0" y="5074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SNR Improvement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49040" y="4709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+37%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749040" y="5074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PESQ Score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4709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0.1s/s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126480" y="5074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Processing Speed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System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3200400" cy="1828800"/>
          </a:xfrm>
          <a:prstGeom prst="rect">
            <a:avLst/>
          </a:prstGeom>
          <a:solidFill>
            <a:srgbClr val="E8F4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20116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GENERATOR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46888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U-Net Architecture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• Encoder (5 layers)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• Bottleneck (Residual)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• Decoder (5 layers)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• Skip Connections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~37M Parameters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0" y="1828800"/>
            <a:ext cx="3200400" cy="18288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20116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DISCRIMINATOR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212080" y="246888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Multi-Scale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• Scale 1 (Full Res)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• Scale 2 (2x Down)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• Scale 3 (4x Down)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• Spectral Norm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~14M Parameters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2560320"/>
            <a:ext cx="731520" cy="365760"/>
          </a:xfrm>
          <a:prstGeom prst="rightArrow">
            <a:avLst/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Adversarial Training Process: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57200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1. Generator creates clean audio from noisy input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2. Discriminator evaluates quality at multiple scales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3. Both networks improve through competition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4. Result: Natural, artifact-free enhancement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Generator: U-Net Architecture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2286000" cy="365760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ENCODER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97280" y="2194560"/>
            <a:ext cx="1920240" cy="41148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1945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Conv 1→64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97280" y="2743200"/>
            <a:ext cx="1920240" cy="41148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743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Conv 64→128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3291840"/>
            <a:ext cx="1920240" cy="41148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291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Conv 128→256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3840480"/>
            <a:ext cx="1920240" cy="41148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840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Conv 256→512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97280" y="4389120"/>
            <a:ext cx="1920240" cy="41148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3891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Conv 512→512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2926080"/>
            <a:ext cx="2286000" cy="36576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BOTTLENECK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11880" y="3474720"/>
            <a:ext cx="1920240" cy="41148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3474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ResBlock (d=1)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11880" y="4023360"/>
            <a:ext cx="1920240" cy="41148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40233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ResBlock (d=2)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11880" y="4572000"/>
            <a:ext cx="1920240" cy="41148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45720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ResBlock (d=4)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0" y="1645920"/>
            <a:ext cx="2286000" cy="365760"/>
          </a:xfrm>
          <a:prstGeom prst="rect">
            <a:avLst/>
          </a:prstGeom>
          <a:solidFill>
            <a:srgbClr val="2129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DECODER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26480" y="2194560"/>
            <a:ext cx="1920240" cy="411480"/>
          </a:xfrm>
          <a:prstGeom prst="rect">
            <a:avLst/>
          </a:prstGeom>
          <a:solidFill>
            <a:srgbClr val="E8F4F8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21945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Deconv 512→512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743200"/>
            <a:ext cx="1920240" cy="411480"/>
          </a:xfrm>
          <a:prstGeom prst="rect">
            <a:avLst/>
          </a:prstGeom>
          <a:solidFill>
            <a:srgbClr val="E8F4F8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2743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Deconv 1024→256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3291840"/>
            <a:ext cx="1920240" cy="411480"/>
          </a:xfrm>
          <a:prstGeom prst="rect">
            <a:avLst/>
          </a:prstGeom>
          <a:solidFill>
            <a:srgbClr val="E8F4F8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3291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Deconv 512→128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3840480"/>
            <a:ext cx="1920240" cy="411480"/>
          </a:xfrm>
          <a:prstGeom prst="rect">
            <a:avLst/>
          </a:prstGeom>
          <a:solidFill>
            <a:srgbClr val="E8F4F8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3840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Deconv 256→64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4389120"/>
            <a:ext cx="1920240" cy="411480"/>
          </a:xfrm>
          <a:prstGeom prst="rect">
            <a:avLst/>
          </a:prstGeom>
          <a:solidFill>
            <a:srgbClr val="E8F4F8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43891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Deconv 128→64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" y="5303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C3E50"/>
                </a:solidFill>
              </a:rPr>
              <a:t>Skip connections preserve fine details →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Loss Functions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C3E50"/>
                </a:solidFill>
              </a:rPr>
              <a:t>Multi-Component Generator Loss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Adversarial Loss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0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λ = 1.0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42316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Fool discriminator, create realistic audio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Feature Matching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0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λ = 10.0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33756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Match internal discriminator features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L1 Reconstruction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3931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λ = 100.0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25196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Pixel-wise similarity, preserve speech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4754880"/>
            <a:ext cx="7315200" cy="73152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846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STFT Loss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14800" y="4846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λ = 50.0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516636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Frequency domain quality (3 resolutions)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Training Workflow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Data Preparation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0" y="19202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VoiceBank dataset: 11,572 noisy/clean pairs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4592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Preprocessing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2560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Normalize, segment (16384 samples), augment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9260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45920" y="2926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Train Discriminator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2004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Classify real vs generated audio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35661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45920" y="3566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Train Generator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38404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Create clean audio, minimize combined loss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206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64592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Update EMA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45920" y="44805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Exponential moving average for stable inference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4400" y="48463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645920" y="4846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Save Checkpoints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45920" y="51206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Every 5 epochs, keep best model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Results &amp; Performance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1645920"/>
            <a:ext cx="201168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Metric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383280" y="1645920"/>
            <a:ext cx="128016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3383280" y="16459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Noisy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645920"/>
            <a:ext cx="146304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6459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Enhanced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645920"/>
            <a:ext cx="164592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Improvement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71600" y="210312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SNR (dB)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2103120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1031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9.0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10312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103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16.5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210312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103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+7.5 dB 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71600" y="2560320"/>
            <a:ext cx="2011680" cy="457200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2560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SI-SNR (dB)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83280" y="2560320"/>
            <a:ext cx="1280160" cy="457200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5603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7.5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2560320"/>
            <a:ext cx="1463040" cy="457200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560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14.2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2560320"/>
            <a:ext cx="1645920" cy="457200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+6.7 dB 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371600" y="301752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7160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PESQ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83280" y="3017520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3017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1.9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63440" y="301752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0175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2.62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26480" y="301752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3017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+37% ✓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371600" y="3474720"/>
            <a:ext cx="2011680" cy="457200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71600" y="3474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STOI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383280" y="3474720"/>
            <a:ext cx="1280160" cy="457200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0" y="34747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0.92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663440" y="3474720"/>
            <a:ext cx="1463040" cy="457200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3474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0.95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26480" y="3474720"/>
            <a:ext cx="1645920" cy="457200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0" y="34747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+3% ✓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371600" y="393192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71600" y="3931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LSD (dB)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383280" y="3931920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83280" y="39319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3.2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663440" y="393192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39319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1.8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126480" y="393192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26480" y="3931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-44% ✓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14400" y="4846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C3E50"/>
                </a:solidFill>
              </a:rPr>
              <a:t>Training Time: ~15 hours (GPU) | Inference Speed: 0.1s per 1s audio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Deployment &amp; Web Application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Flask-Based Web Interface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71600" y="2103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✓ Upload WAV files via drag-and-drop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2560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✓ One-click audio enhancement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3017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✓ Side-by-side before/after comparison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3474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✓ Download enhanced audio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3931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✓ Real-time processing on GPU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4389120"/>
            <a:ext cx="7315200" cy="1097280"/>
          </a:xfrm>
          <a:prstGeom prst="rect">
            <a:avLst/>
          </a:prstGeom>
          <a:solidFill>
            <a:srgbClr val="E8F4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48056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5A82"/>
                </a:solidFill>
              </a:rPr>
              <a:t>USER → Browser → Flask Backend → AudioEnhancer → Enhanced Audio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Key Innovations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828800" y="17830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Multi-Scale Discrimination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0" y="214884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Evaluates quality at 3 resolutions for comprehensive assessment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697480"/>
            <a:ext cx="7315200" cy="91440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🔊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828800" y="283464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Multi-Resolution STFT Loss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28800" y="320040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Perceptual quality in frequency domain (FFT: 512, 1024, 2048)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3749040"/>
            <a:ext cx="7315200" cy="91440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828800" y="388620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EMA Weights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28800" y="42519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Exponential moving average for smoother, more stable inference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4800600"/>
            <a:ext cx="7315200" cy="91440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937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🔗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828800" y="49377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Skip Connections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28800" y="530352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Preserves fine details through encoder-decoder architecture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Conclusion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2286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State-of-the-art audio enhancement using GANs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2834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7.5 dB SNR improvement, 37% PESQ improvement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3383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Natural-sounding, artifact-free output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3931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Production-ready web application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4480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Real-time capable on modern hardware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5029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i="1" dirty="0">
                <a:solidFill>
                  <a:srgbClr val="E8F4F8"/>
                </a:solidFill>
              </a:rPr>
              <a:t>Thank You!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Audio Enhancement 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SEGAN: Complete Technical Presentation</dc:title>
  <dc:subject>Speech Enhancement GAN</dc:subject>
  <dc:creator>SEGAN Project</dc:creator>
  <cp:lastModifiedBy>SEGAN Project</cp:lastModifiedBy>
  <cp:revision>1</cp:revision>
  <dcterms:created xsi:type="dcterms:W3CDTF">2026-02-05T21:37:49Z</dcterms:created>
  <dcterms:modified xsi:type="dcterms:W3CDTF">2026-02-05T21:37:49Z</dcterms:modified>
</cp:coreProperties>
</file>